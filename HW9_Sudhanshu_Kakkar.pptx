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07" autoAdjust="0"/>
    <p:restoredTop sz="94719"/>
  </p:normalViewPr>
  <p:slideViewPr>
    <p:cSldViewPr snapToGrid="0">
      <p:cViewPr varScale="1">
        <p:scale>
          <a:sx n="80" d="100"/>
          <a:sy n="80" d="100"/>
        </p:scale>
        <p:origin x="216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5C6B-76EC-4142-A940-DBD59C818865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10BB-6EAC-479B-A882-4063B55F5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A7CE-FF0B-D5C6-7CC3-F6B867F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CC20-2EE5-711A-5835-2C7185A5F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72604-E94F-E314-C612-C3351DF9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04CF8-D5F5-A6DC-D44A-D1A5DAE7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810BB-6EAC-479B-A882-4063B55F55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CE72-CFC0-D19F-4613-1F1ED543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F6F9-2DAE-5CF9-4DD5-53C0822F9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3A9BD-D3D9-A567-7326-B914C225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74CE-2F5D-9901-1A4C-65A8A55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FDB5-B72F-58AC-D945-E53A8E97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EDA3-E0D2-685C-8DFF-4F694F7B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2F9F-18C4-988C-6AAB-1731F1B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E72A-1893-F719-2B71-C3966DEC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1317-FC99-3DA1-6CD6-2296B0BA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1650-BA76-C42B-551C-0E82EC8F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60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0326-C178-EB85-B301-FC2887A9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E657-543A-5F2B-E26D-70B4AC7AF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A00E4-9F19-C96A-DC5D-D60D7C1B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585C-2E1B-2090-5E34-741D9BCA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F593-918E-AE9D-4F1D-91E4E881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D62-09D8-7201-C4F9-2BBF0A0A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2947-9C7C-E441-86D3-8952BA9AD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72BB8-074C-A05C-88A6-C70B958FB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65F7A-3594-5027-8AE3-C59309EC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BFB8-142E-89BE-25A1-AF396DB3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96CF-8A24-F8FB-3A0A-4FC7864A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0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7B80-3D16-A4BF-D040-389C430A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5AFD-5351-709F-EBDA-BE409BEF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807C-C128-C8DD-1A85-E7D3044D6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F603F-FDE1-115E-9D9D-080739FB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6FDF5-E519-D5E4-4B5C-670F39B7A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21004-22F7-3F7A-AF63-5842F66C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0D417-A912-9F5C-D26E-021CFE6A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4D2A4-6258-8979-2419-B559BD32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8861-86DF-C4A7-C3C3-76D921B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C135C-C33C-93A0-64CD-6EC87B28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25D65-D693-EAD0-82A1-DABC67D2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CEF6-855F-AE65-59EB-CDBDCF7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26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F912-A355-90A6-16A7-48791D5F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ADA-EE0F-AA91-BFC4-1766B4D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3927-42F3-BFAE-7E94-B5CF636C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899D-19E4-A85E-9E31-EBFF2F7C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6BF5-8E99-E739-E598-FDA23A95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4D145-CB6B-A8B5-2701-00C56A1F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E990-2240-830D-E63B-DF82E6C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EFCC-9C35-4180-F244-8FCA91A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8EE5-1AD4-0B90-234F-C2560EC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509A-D5D2-1E23-14BB-A6A013B3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5096A-D719-2534-0B7B-087317B83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8C8BD-6B70-F61C-4DAF-96B463A7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781C-D99C-0398-EAFD-3CED3DE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5818-CB56-EBD9-013D-4A8B7E43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A7E2-F472-6770-8F3F-A1F1DF80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C8D7-71C3-A79A-727C-5D256906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B2F69-A83C-1218-B5B1-C1EB5591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928D-79F2-A501-3CE8-4AA232AC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25C3-1CD2-1899-A4DD-F9205D62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F094-81C9-F50F-5400-DD53AD62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6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994E-B60D-425B-EFF5-F91246456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05920-57B8-80B1-CE41-42B1B567C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CEF5-F6B0-F410-C224-EFD78BFF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09567-0B57-2A3E-4070-81D47D5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4FAF-945D-530A-0170-C4D18351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9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0AD01-8557-4422-1C9D-B6D7AEC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649A-E869-8B2B-D6B8-860D6E2A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F7729-6101-7537-7F5D-C894EBA35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4986-7DEB-4068-B691-7A99EC7B716C}" type="datetimeFigureOut">
              <a:rPr lang="en-IN" smtClean="0"/>
              <a:t>03/11/25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84D2-9F48-AF3C-9F61-58E70A122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DABF-3A0F-2ECB-930C-E83DD1AF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E96F-4E7F-8DAE-715F-1F4FB4B3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618"/>
            <a:ext cx="10515600" cy="4488873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/>
              <a:t>HW-Topic-9</a:t>
            </a:r>
            <a:br>
              <a:rPr lang="en-IN" sz="3100" dirty="0"/>
            </a:br>
            <a:r>
              <a:rPr lang="en-US" sz="3100" dirty="0"/>
              <a:t>Data Acquisition, Modeling and Analysis: Big Data Analytics</a:t>
            </a:r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Submitted By – </a:t>
            </a:r>
            <a:r>
              <a:rPr lang="en-US" sz="3100" b="1" dirty="0"/>
              <a:t>Sudhanshu Kakkar</a:t>
            </a:r>
            <a:br>
              <a:rPr lang="en-US" sz="3100" dirty="0"/>
            </a:br>
            <a:r>
              <a:rPr lang="en-US" sz="3100" dirty="0"/>
              <a:t>CWID – </a:t>
            </a:r>
            <a:r>
              <a:rPr lang="en-US" sz="3100" b="1" dirty="0"/>
              <a:t>20036779</a:t>
            </a:r>
            <a:br>
              <a:rPr lang="en-US" sz="3100" u="sng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28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7BF3-7A5D-3B49-DECB-6248A0DE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428-40D3-B23A-B972-219962AC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1431" y="39963"/>
            <a:ext cx="3790569" cy="370506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latin typeface="+mn-lt"/>
                <a:ea typeface="+mn-ea"/>
                <a:cs typeface="+mn-cs"/>
              </a:rPr>
              <a:t>Sudhanshu Kakkar | ID - 20036779</a:t>
            </a:r>
            <a:endParaRPr lang="en-IN" sz="14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84580-8D6C-671A-B1BD-6FA698AC6705}"/>
              </a:ext>
            </a:extLst>
          </p:cNvPr>
          <p:cNvSpPr txBox="1"/>
          <p:nvPr/>
        </p:nvSpPr>
        <p:spPr>
          <a:xfrm flipH="1">
            <a:off x="0" y="628276"/>
            <a:ext cx="4434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IDEA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FAEB07-B464-6659-45F1-CEBB796C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0" y="1031491"/>
            <a:ext cx="7030073" cy="88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ARMA and ARIMA aim to </a:t>
            </a:r>
            <a:r>
              <a:rPr lang="en-US" b="1" dirty="0"/>
              <a:t>model time-dependent data</a:t>
            </a:r>
            <a:r>
              <a:rPr lang="en-US" dirty="0"/>
              <a:t>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They use past values and past errors</a:t>
            </a:r>
            <a:r>
              <a:rPr lang="en-US" dirty="0"/>
              <a:t> to forecast future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565D-A14D-C6D6-19F8-4A257A7C1D46}"/>
              </a:ext>
            </a:extLst>
          </p:cNvPr>
          <p:cNvSpPr txBox="1"/>
          <p:nvPr/>
        </p:nvSpPr>
        <p:spPr>
          <a:xfrm>
            <a:off x="76700" y="2905147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MATHEMATICAL FORM: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D8C60-2FCC-153D-80B1-DF9005B2A250}"/>
              </a:ext>
            </a:extLst>
          </p:cNvPr>
          <p:cNvSpPr txBox="1"/>
          <p:nvPr/>
        </p:nvSpPr>
        <p:spPr>
          <a:xfrm>
            <a:off x="99759" y="5022729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APPLICATIONS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83F49-110E-FC72-94F1-7B7680EC9C5E}"/>
              </a:ext>
            </a:extLst>
          </p:cNvPr>
          <p:cNvSpPr/>
          <p:nvPr/>
        </p:nvSpPr>
        <p:spPr>
          <a:xfrm>
            <a:off x="6808773" y="543248"/>
            <a:ext cx="5401156" cy="37881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A0796-09B5-7A74-F00E-A3E2840D6796}"/>
              </a:ext>
            </a:extLst>
          </p:cNvPr>
          <p:cNvSpPr txBox="1"/>
          <p:nvPr/>
        </p:nvSpPr>
        <p:spPr>
          <a:xfrm>
            <a:off x="6836849" y="781544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FEAA4-D50F-F44F-8733-B6BB20FDF09E}"/>
              </a:ext>
            </a:extLst>
          </p:cNvPr>
          <p:cNvSpPr txBox="1"/>
          <p:nvPr/>
        </p:nvSpPr>
        <p:spPr>
          <a:xfrm>
            <a:off x="0" y="63201"/>
            <a:ext cx="6397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ptos Black" panose="020F0502020204030204" pitchFamily="34" charset="0"/>
              </a:rPr>
              <a:t>ARMA and ARIMA Models</a:t>
            </a:r>
            <a:endParaRPr lang="en-IN" sz="3200" b="1" dirty="0">
              <a:latin typeface="Aptos Black" panose="020F050202020403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FC93CA2-8963-A9B5-31D0-83AC4B35E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31" y="5446824"/>
            <a:ext cx="5966291" cy="1298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Exchange rate prediction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Stock price forecasting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Air quality index prediction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044AB0-C876-D106-CCB1-AECB507A8E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353298" y="3490190"/>
            <a:ext cx="56389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ARMA: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ARIMA: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CF54CBFF-2E5C-8ECC-6D83-FA3528AA5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59" y="1850571"/>
            <a:ext cx="7030073" cy="88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ARMA:</a:t>
            </a:r>
            <a:r>
              <a:rPr lang="en-US" dirty="0"/>
              <a:t> Works for </a:t>
            </a:r>
            <a:r>
              <a:rPr lang="en-US" i="1" dirty="0"/>
              <a:t>stationary</a:t>
            </a:r>
            <a:r>
              <a:rPr lang="en-US" dirty="0"/>
              <a:t> time series.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ARIMA:</a:t>
            </a:r>
            <a:r>
              <a:rPr lang="en-US" dirty="0"/>
              <a:t> Adds </a:t>
            </a:r>
            <a:r>
              <a:rPr lang="en-US" i="1" dirty="0"/>
              <a:t>differencing</a:t>
            </a:r>
            <a:r>
              <a:rPr lang="en-US" dirty="0"/>
              <a:t> (I) to handle </a:t>
            </a:r>
            <a:r>
              <a:rPr lang="en-US" i="1" dirty="0"/>
              <a:t>non-stationary</a:t>
            </a:r>
            <a:r>
              <a:rPr lang="en-US" dirty="0"/>
              <a:t> data.</a:t>
            </a:r>
          </a:p>
        </p:txBody>
      </p:sp>
      <p:pic>
        <p:nvPicPr>
          <p:cNvPr id="20" name="Picture 1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F6268B7-13F7-4D16-6D67-BB550863C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84" y="3337362"/>
            <a:ext cx="3632200" cy="774700"/>
          </a:xfrm>
          <a:prstGeom prst="rect">
            <a:avLst/>
          </a:prstGeom>
        </p:spPr>
      </p:pic>
      <p:pic>
        <p:nvPicPr>
          <p:cNvPr id="22" name="Picture 21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81D2892-7A91-78C2-FDAC-AD714FF15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84" y="4149628"/>
            <a:ext cx="4368800" cy="774700"/>
          </a:xfrm>
          <a:prstGeom prst="rect">
            <a:avLst/>
          </a:prstGeom>
        </p:spPr>
      </p:pic>
      <p:sp>
        <p:nvSpPr>
          <p:cNvPr id="30" name="Rectangle 8">
            <a:extLst>
              <a:ext uri="{FF2B5EF4-FFF2-40B4-BE49-F238E27FC236}">
                <a16:creationId xmlns:a16="http://schemas.microsoft.com/office/drawing/2014/main" id="{754AD9ED-0C27-316E-9B90-92247B65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773" y="1254023"/>
            <a:ext cx="5166491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Effective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short-term forecasting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Works well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univariate time-series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9F940-4022-17FB-04A6-A8D1599839DC}"/>
              </a:ext>
            </a:extLst>
          </p:cNvPr>
          <p:cNvSpPr txBox="1"/>
          <p:nvPr/>
        </p:nvSpPr>
        <p:spPr>
          <a:xfrm>
            <a:off x="6836849" y="2440740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Limitations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C4DDD5E1-3053-BCA2-F1E8-C4B2D1036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849" y="3054366"/>
            <a:ext cx="5512901" cy="87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Assumes linear relationships between variables.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Parameter tuning can be complex.</a:t>
            </a:r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8E3AA832-547D-0004-7980-4C48285FB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003FFB6B-DB5F-BC02-CF3B-AF071D22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C0BF070-6E2A-ED0F-1014-AB7602E92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814" y="4910921"/>
            <a:ext cx="8126522" cy="200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8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123</Words>
  <Application>Microsoft Macintosh PowerPoint</Application>
  <PresentationFormat>Widescreen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Office Theme</vt:lpstr>
      <vt:lpstr>HW-Topic-9 Data Acquisition, Modeling and Analysis: Big Data Analytics  Submitted By – Sudhanshu Kakkar CWID – 20036779  </vt:lpstr>
      <vt:lpstr>Sudhanshu Kakkar | ID - 20036779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Kakkar</dc:creator>
  <cp:lastModifiedBy>Sudhanshu Kakkar</cp:lastModifiedBy>
  <cp:revision>52</cp:revision>
  <dcterms:created xsi:type="dcterms:W3CDTF">2025-09-23T03:35:43Z</dcterms:created>
  <dcterms:modified xsi:type="dcterms:W3CDTF">2025-11-03T17:46:47Z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2025-09-23T04:10:30Z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e9776a84-0086-491f-b735-18cde1807792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